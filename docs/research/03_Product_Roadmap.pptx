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534AB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4114800" cy="4114800"/>
          </a:xfrm>
          <a:prstGeom prst="ellipse">
            <a:avLst/>
          </a:prstGeom>
          <a:solidFill>
            <a:srgbClr val="13B8A6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 ·  INVESTOR 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Semantic Layer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owning your context — to the universal work surface.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886200"/>
            <a:ext cx="2926080" cy="0"/>
          </a:xfrm>
          <a:prstGeom prst="line">
            <a:avLst/>
          </a:prstGeom>
          <a:noFill/>
          <a:ln w="31750">
            <a:solidFill>
              <a:srgbClr val="6E5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Hutchinson &amp; Co.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V2 · V3  —  themes &amp; indicative timing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E8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 use AI. Almost none pay for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use an AI tool every week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/ SSRS, Feb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057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households actually pay for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America,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2057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275320" y="3017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used daily that don't share any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app-usage research,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without dependency. 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of chatbots wears off because nothing holds a person's context and nothing packages the capability into a product an ordinary person needs every day.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don't want to use AI. They want life to be easier to manage.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product 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one app at a time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context from scratch every session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where stakes are low and context is light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privacy block the high-value tasks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26215C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Semantic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context layer under your whole digital life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what things mean once — then reuses it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Remembers, connects, and acts — you stay in control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more valuable the longer you use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foundation. Resolved once. Reused everywhere.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6E5E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Navigator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intent in plain language, proposes actions, and acts — only after your approval.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40280"/>
            <a:ext cx="457200" cy="457200"/>
          </a:xfrm>
          <a:prstGeom prst="ellipse">
            <a:avLst/>
          </a:prstGeom>
          <a:solidFill>
            <a:srgbClr val="13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surfaces that do the work in each domain — communications, finances, and more.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24028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154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private, persistent store of what your life and work actually mean.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like software, priced like infrastructure.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 — with a cloud tier and a home-server tier where your data never leaves the house.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conditions for this product just arrived.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09728" cy="1280160"/>
          </a:xfrm>
          <a:prstGeom prst="rect">
            <a:avLst/>
          </a:prstGeom>
          <a:solidFill>
            <a:srgbClr val="6E5EF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3911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have commoditized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Frontier-model token prices fell ~80% in a year. The intelligence is now cheap; the value moves to the layer that owns context.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291840"/>
            <a:ext cx="109728" cy="1280160"/>
          </a:xfrm>
          <a:prstGeom prst="rect">
            <a:avLst/>
          </a:prstGeom>
          <a:solidFill>
            <a:srgbClr val="13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5643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has become the 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474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US adults are more concerned than excited about AI. Human-approved, auditable, private wins the high-value tasks.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709160"/>
            <a:ext cx="109728" cy="128016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87375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 peaked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4892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live across dozens of apps that share no meaning. The need for a layer that connects them is now obvious.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 is owned meaning — and it grows with every lens.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compounds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lens enriches the same foundation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fifth lens is worth more than the first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comes from accumulated meaning, not lock-in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Infrastructure-style margins (~85–90%+)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the alternative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6974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agents automate one task, then forget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rebuild meaning every run — no compounding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resolved meaning every task depends 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governance by construction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phases, one compounding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26215C"/>
          </a:solidFill>
          <a:ln w="19050">
            <a:solidFill>
              <a:srgbClr val="6E5E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429000" cy="109728"/>
          </a:xfrm>
          <a:prstGeom prst="rect">
            <a:avLst/>
          </a:prstGeom>
          <a:solidFill>
            <a:srgbClr val="6E5E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5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0312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your context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lenses — Communications, Reasoning, Document, Photo — over a private foundation.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26215C"/>
          </a:solidFill>
          <a:ln w="19050">
            <a:solidFill>
              <a:srgbClr val="13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3429000" cy="109728"/>
          </a:xfrm>
          <a:prstGeom prst="rect">
            <a:avLst/>
          </a:prstGeom>
          <a:solidFill>
            <a:srgbClr val="13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57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0644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+6–12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foundation, working for you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becomes the source of truth; the lens marketplace opens.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26215C"/>
          </a:solidFill>
          <a:ln w="19050">
            <a:solidFill>
              <a:srgbClr val="E8A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783080"/>
            <a:ext cx="3429000" cy="109728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057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0976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+18–24 MONTHS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universal work surface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21040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organized around domains, not apps. The Navigator is everywhere.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happen by connection, not rebuild — the foundation laid in V1 carries all the way through.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26215C"/>
          </a:solidFill>
          <a:ln/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" y="1554480"/>
            <a:ext cx="3520440" cy="128016"/>
          </a:xfrm>
          <a:prstGeom prst="rect">
            <a:avLst/>
          </a:prstGeom>
          <a:solidFill>
            <a:srgbClr val="6E5E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5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your context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8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8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8646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consumers and prosumers — the people who feel the fragmentation most.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810512"/>
            <a:ext cx="310896" cy="310896"/>
          </a:xfrm>
          <a:prstGeom prst="ellipse">
            <a:avLst/>
          </a:prstGeom>
          <a:solidFill>
            <a:srgbClr val="6E5EF0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792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Communications lens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chat, contacts, meetings, transcripts — the full surface and the cold-start engine.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810512"/>
            <a:ext cx="310896" cy="310896"/>
          </a:xfrm>
          <a:prstGeom prst="ellipse">
            <a:avLst/>
          </a:prstGeom>
          <a:solidFill>
            <a:srgbClr val="6E5EF0"/>
          </a:solidFill>
          <a:ln/>
        </p:spPr>
      </p:sp>
      <p:sp>
        <p:nvSpPr>
          <p:cNvPr id="16" name="Text 14"/>
          <p:cNvSpPr/>
          <p:nvPr/>
        </p:nvSpPr>
        <p:spPr>
          <a:xfrm>
            <a:off x="8897112" y="1792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lens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9912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generalist that answers over your own life — commitments, people, finances — not a blank window.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4096512"/>
            <a:ext cx="310896" cy="310896"/>
          </a:xfrm>
          <a:prstGeom prst="ellipse">
            <a:avLst/>
          </a:prstGeom>
          <a:solidFill>
            <a:srgbClr val="6E5EF0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4078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lens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45152" y="4754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statements, receipts and files — receipts become payments, contracts become commitments.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39912" y="4096512"/>
            <a:ext cx="310896" cy="310896"/>
          </a:xfrm>
          <a:prstGeom prst="ellipse">
            <a:avLst/>
          </a:prstGeom>
          <a:solidFill>
            <a:srgbClr val="6E5EF0"/>
          </a:solidFill>
          <a:ln/>
        </p:spPr>
      </p:sp>
      <p:sp>
        <p:nvSpPr>
          <p:cNvPr id="24" name="Text 22"/>
          <p:cNvSpPr/>
          <p:nvPr/>
        </p:nvSpPr>
        <p:spPr>
          <a:xfrm>
            <a:off x="8897112" y="4078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/ media lens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39912" y="4754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by date, place, object and scene, with text-in-image. No faces or video in V1 (opt-in fast-follow).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AT LAUNCH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your context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26215C"/>
          </a:solidFill>
          <a:ln/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" y="1554480"/>
            <a:ext cx="3520440" cy="128016"/>
          </a:xfrm>
          <a:prstGeom prst="rect">
            <a:avLst/>
          </a:prstGeom>
          <a:solidFill>
            <a:srgbClr val="13B8A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foundation, working for you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8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+6–12 months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8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8646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and small businesses adding domains beyond communications.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810512"/>
            <a:ext cx="310896" cy="310896"/>
          </a:xfrm>
          <a:prstGeom prst="ellipse">
            <a:avLst/>
          </a:prstGeom>
          <a:solidFill>
            <a:srgbClr val="13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792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becomes the source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corrections and edits update the foundation directly; apps begin receiving writes rather than holding the meaning.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810512"/>
            <a:ext cx="310896" cy="310896"/>
          </a:xfrm>
          <a:prstGeom prst="ellipse">
            <a:avLst/>
          </a:prstGeom>
          <a:solidFill>
            <a:srgbClr val="13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897112" y="1792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marketplace opens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9912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for packaged domain intelligence — distributed the way apps once were, but over your shared foundation.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4096512"/>
            <a:ext cx="310896" cy="310896"/>
          </a:xfrm>
          <a:prstGeom prst="ellipse">
            <a:avLst/>
          </a:prstGeom>
          <a:solidFill>
            <a:srgbClr val="13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4078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domain lenses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45152" y="4754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Health, Work &amp; Projects, Knowledge — each adds capability and makes every other lens more useful.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39912" y="4096512"/>
            <a:ext cx="310896" cy="310896"/>
          </a:xfrm>
          <a:prstGeom prst="ellipse">
            <a:avLst/>
          </a:prstGeom>
          <a:solidFill>
            <a:srgbClr val="13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897112" y="4078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Two-way with your apps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39912" y="4754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flows both ways; the foundation starts to lead and the apps follow.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THE FOUNDATION LEADS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foundation, working for you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26215C"/>
          </a:solidFill>
          <a:ln/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" y="1554480"/>
            <a:ext cx="3520440" cy="128016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universal work surface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8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+18–24 months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8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8646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consumers and SMBs — plus the on-ramp to enterprise.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810512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792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Organized around life, not apps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 built around the domains of a person's life and work; each domain is a view into the foundation.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810512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8897112" y="1792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Navigator everywhere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9912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from anywhere on the surface — intent in, approved action out, across every domain at once.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4096512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4078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fade to plumbing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45152" y="4754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become transport and rendering; the meaning — and the relationship with the user — lives with us.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3840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39912" y="4096512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4" name="Text 22"/>
          <p:cNvSpPr/>
          <p:nvPr/>
        </p:nvSpPr>
        <p:spPr>
          <a:xfrm>
            <a:off x="8897112" y="40782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on the horizon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39912" y="4754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architecture, keyed to an organization (OSL), opens the enterprise market.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THE PLATFORM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universal work surface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CAPABILITY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new lens deepens the foundation — and grows revenue per user.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566928"/>
          </a:xfrm>
          <a:prstGeom prst="rect">
            <a:avLst/>
          </a:prstGeom>
          <a:solidFill>
            <a:srgbClr val="6E5E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Launch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(basic)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920240"/>
            <a:ext cx="3429000" cy="566928"/>
          </a:xfrm>
          <a:prstGeom prst="rect">
            <a:avLst/>
          </a:prstGeom>
          <a:solidFill>
            <a:srgbClr val="13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+6–12 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Projects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920240"/>
            <a:ext cx="3429000" cy="566928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+18–24 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/ vertical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&amp; franchise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(OSL)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is the engine.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 app store over one shared foundation — average revenue per user rises as people add utility over time.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where resistance is lowest. Expand into the largest markets.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5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adoption resistance; an individual buying decision, no procurement.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17720" y="2606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foundation, a different lens set — freelancers and small firms.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(OSL)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0" y="2606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keyed to an organization — the largest prize, on the same spine.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6215C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236M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US adults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9776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6215C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$283B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consumer platform TAM, at full penetration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9776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6215C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marketplace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revenue on top — an app-store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wins — and stays won.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Owns the meaning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automate tasks on top of today's models. We own the resolved meaning every task depends 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130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by construction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writes, full provenance, and deterministic governance — far cheaper and more defensible than checking AI after the fact.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69080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050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home-server tier where data physically cannot leave — an architectural privacy guarantee, not a promise.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69080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050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Switching cost compounds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45720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a person uses it, the more meaning accrues — and the harder it is to leave.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943600" cy="5943600"/>
          </a:xfrm>
          <a:prstGeom prst="ellipse">
            <a:avLst/>
          </a:prstGeom>
          <a:solidFill>
            <a:srgbClr val="534AB7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your context. Then own the surface.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rgbClr val="6E5E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651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— Communications + Reasoning over a private foundation.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13B8A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3429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+6–12 mo — the foundation leads; the lens marketplace opens.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4206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+18–24 mo — the universal work surface; enterprise on the horizon.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525780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26215C"/>
          </a:solidFill>
          <a:ln w="12700">
            <a:solidFill>
              <a:srgbClr val="6E5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raise funds:  </a:t>
            </a:r>
            <a:pPr indent="0" marL="0">
              <a:buNone/>
            </a:pPr>
            <a:r>
              <a:rPr lang="en-US" sz="16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V1 to launch — the foundation, the first two lenses, and both deployment tiers.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Semantic Layer  ·  Hutchinson &amp; Co.  ·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PSL Product Roadmap</dc:title>
  <dc:subject>PptxGenJS Presentation</dc:subject>
  <dc:creator>Hutchinson &amp; Co.</dc:creator>
  <cp:lastModifiedBy>Hutchinson &amp; Co.</cp:lastModifiedBy>
  <cp:revision>1</cp:revision>
  <dcterms:created xsi:type="dcterms:W3CDTF">2026-06-24T12:49:38Z</dcterms:created>
  <dcterms:modified xsi:type="dcterms:W3CDTF">2026-06-24T12:49:38Z</dcterms:modified>
</cp:coreProperties>
</file>